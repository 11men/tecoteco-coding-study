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926080"/>
            <a:ext cx="1828800" cy="38100"/>
          </a:xfrm>
          <a:prstGeom prst="rect">
            <a:avLst/>
          </a:prstGeom>
          <a:solidFill>
            <a:srgbClr val="4E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5600" b="1">
                <a:solidFill>
                  <a:srgbClr val="FFFFFF"/>
                </a:solidFill>
                <a:latin typeface="Arial"/>
              </a:defRPr>
            </a:pPr>
            <a:r>
              <a:t>Parallel Investor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600" b="0">
                <a:solidFill>
                  <a:srgbClr val="4E8CFF"/>
                </a:solidFill>
                <a:latin typeface="Arial"/>
              </a:defRPr>
            </a:pPr>
            <a:r>
              <a:t>FOMO가 터질 때, 과거가 답을 알려준다.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FFFFFF"/>
                </a:solidFill>
                <a:latin typeface="Arial"/>
              </a:defRPr>
            </a:pPr>
          </a:p>
          <a:p>
            <a:pPr algn="l">
              <a:spcAft>
                <a:spcPts val="400"/>
              </a:spcAft>
              <a:defRPr sz="1800" b="0">
                <a:solidFill>
                  <a:srgbClr val="707080"/>
                </a:solidFill>
                <a:latin typeface="Arial"/>
              </a:defRPr>
            </a:pPr>
            <a:r>
              <a:t>Team 3  |  병호 . 현두 . 르네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07080"/>
                </a:solidFill>
                <a:latin typeface="Arial"/>
              </a:defRPr>
            </a:pPr>
            <a:r>
              <a:t>우리가 처음 받은 아이디어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4000" b="1">
                <a:solidFill>
                  <a:srgbClr val="FFFFFF"/>
                </a:solidFill>
                <a:latin typeface="Arial"/>
              </a:defRPr>
            </a:pPr>
            <a:r>
              <a:t>"사고 싶은 걸 참으면, 기록해주고,</a:t>
            </a:r>
          </a:p>
          <a:p>
            <a:pPr algn="l">
              <a:spcAft>
                <a:spcPts val="400"/>
              </a:spcAft>
              <a:defRPr sz="4000" b="1">
                <a:solidFill>
                  <a:srgbClr val="FFFFFF"/>
                </a:solidFill>
                <a:latin typeface="Arial"/>
              </a:defRPr>
            </a:pPr>
            <a:r>
              <a:t>1주일 뒤에 결과를 알려준다."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4E8CFF"/>
                </a:solidFill>
                <a:latin typeface="Arial"/>
              </a:defRPr>
            </a:pPr>
            <a:r>
              <a:t>Shadow Portfolio  -  참음의 기록</a:t>
            </a:r>
          </a:p>
          <a:p>
            <a:pPr algn="l">
              <a:spcAft>
                <a:spcPts val="400"/>
              </a:spcAft>
              <a:defRPr sz="2000" b="1">
                <a:solidFill>
                  <a:srgbClr val="00D49D"/>
                </a:solidFill>
                <a:latin typeface="Arial"/>
              </a:defRPr>
            </a:pPr>
            <a:r>
              <a:t>JOMO Calculator  -  치킨 50마리 세이브</a:t>
            </a:r>
          </a:p>
          <a:p>
            <a:pPr algn="l">
              <a:spcAft>
                <a:spcPts val="400"/>
              </a:spcAft>
              <a:defRPr sz="2000" b="1">
                <a:solidFill>
                  <a:srgbClr val="FFC107"/>
                </a:solidFill>
                <a:latin typeface="Arial"/>
              </a:defRPr>
            </a:pPr>
            <a:r>
              <a:t>Patience Leveling  -  Lv.1 펄럭귀 ~ Lv.99 워렌 버핏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669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AAAABB"/>
                </a:solidFill>
                <a:latin typeface="Arial"/>
              </a:defRPr>
            </a:pPr>
            <a:r>
              <a:t>나쁘지 않았다. 하지만 그대로 받아들이진 않았다.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Arial"/>
              </a:defRPr>
            </a:pPr>
            <a:r>
              <a:t>"이거 써서 사용자가</a:t>
            </a:r>
            <a:br/>
            <a:r>
              <a:t>구체적으로 뭘 얻는 건데?"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707080"/>
                </a:solidFill>
                <a:latin typeface="Arial"/>
              </a:defRPr>
            </a:pPr>
            <a:r>
              <a:t>처음엔 이렇게 생각했다.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FFFFFF"/>
                </a:solidFill>
                <a:latin typeface="Arial"/>
              </a:defRPr>
            </a:pPr>
          </a:p>
          <a:p>
            <a:pPr algn="ctr">
              <a:spcAft>
                <a:spcPts val="400"/>
              </a:spcAft>
              <a:defRPr sz="4000" b="1">
                <a:solidFill>
                  <a:srgbClr val="AAAABB"/>
                </a:solidFill>
                <a:latin typeface="Arial"/>
              </a:defRPr>
            </a:pPr>
            <a:r>
              <a:t>"투자 멘탈 관리 앱"</a:t>
            </a:r>
          </a:p>
          <a:p>
            <a:pPr algn="l">
              <a:spcAft>
                <a:spcPts val="400"/>
              </a:spcAft>
              <a:defRPr sz="2000" b="0">
                <a:solidFill>
                  <a:srgbClr val="FFFFFF"/>
                </a:solidFill>
                <a:latin typeface="Arial"/>
              </a:defRPr>
            </a:pPr>
          </a:p>
          <a:p>
            <a:pPr algn="ctr">
              <a:spcAft>
                <a:spcPts val="400"/>
              </a:spcAft>
              <a:defRPr sz="2400" b="0">
                <a:solidFill>
                  <a:srgbClr val="FFFFFF"/>
                </a:solidFill>
                <a:latin typeface="Arial"/>
              </a:defRPr>
            </a:pPr>
            <a:r>
              <a:t>근데 솔직히,</a:t>
            </a:r>
          </a:p>
          <a:p>
            <a:pPr algn="ctr">
              <a:spcAft>
                <a:spcPts val="400"/>
              </a:spcAft>
              <a:defRPr sz="3600" b="1">
                <a:solidFill>
                  <a:srgbClr val="FF4E6A"/>
                </a:solidFill>
                <a:latin typeface="Arial"/>
              </a:defRPr>
            </a:pPr>
            <a:r>
              <a:t>멘탈 관리에 돈 내는 사람이 있나?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400" b="0">
                <a:solidFill>
                  <a:srgbClr val="707080"/>
                </a:solidFill>
                <a:latin typeface="Arial"/>
              </a:defRPr>
            </a:pPr>
            <a:r>
              <a:t>이 사람들이 진짜 원하는 건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FFFFFF"/>
                </a:solidFill>
                <a:latin typeface="Arial"/>
              </a:defRPr>
            </a:pPr>
          </a:p>
          <a:p>
            <a:pPr algn="ctr">
              <a:spcAft>
                <a:spcPts val="400"/>
              </a:spcAft>
              <a:defRPr sz="5600" b="1">
                <a:solidFill>
                  <a:srgbClr val="FFFFFF"/>
                </a:solidFill>
                <a:latin typeface="Arial"/>
              </a:defRPr>
            </a:pPr>
            <a:r>
              <a:t>돈을 벌고 싶다.</a:t>
            </a:r>
          </a:p>
          <a:p>
            <a:pPr algn="l">
              <a:spcAft>
                <a:spcPts val="400"/>
              </a:spcAft>
              <a:defRPr sz="2000" b="0">
                <a:solidFill>
                  <a:srgbClr val="FFFFFF"/>
                </a:solidFill>
                <a:latin typeface="Arial"/>
              </a:defRPr>
            </a:pPr>
          </a:p>
          <a:p>
            <a:pPr algn="ctr">
              <a:spcAft>
                <a:spcPts val="400"/>
              </a:spcAft>
              <a:defRPr sz="2400" b="0">
                <a:solidFill>
                  <a:srgbClr val="AAAABB"/>
                </a:solidFill>
                <a:latin typeface="Arial"/>
              </a:defRPr>
            </a:pPr>
            <a:r>
              <a:t>심리 앱이 아니라,</a:t>
            </a:r>
          </a:p>
          <a:p>
            <a:pPr algn="ctr">
              <a:spcAft>
                <a:spcPts val="400"/>
              </a:spcAft>
              <a:defRPr sz="2800" b="1">
                <a:solidFill>
                  <a:srgbClr val="4E8CFF"/>
                </a:solidFill>
                <a:latin typeface="Arial"/>
              </a:defRPr>
            </a:pPr>
            <a:r>
              <a:t>돈에 직접 영향을 줘야 한다.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3200" b="0">
                <a:solidFill>
                  <a:srgbClr val="707080"/>
                </a:solidFill>
                <a:latin typeface="Arial"/>
              </a:defRPr>
            </a:pPr>
            <a:r>
              <a:t>"참으세요" 는 잔소리다.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FFFFFF"/>
                </a:solidFill>
                <a:latin typeface="Arial"/>
              </a:defRPr>
            </a:pPr>
          </a:p>
          <a:p>
            <a:pPr algn="ctr">
              <a:spcAft>
                <a:spcPts val="400"/>
              </a:spcAft>
              <a:defRPr sz="4000" b="1">
                <a:solidFill>
                  <a:srgbClr val="FF4E6A"/>
                </a:solidFill>
                <a:latin typeface="Arial"/>
              </a:defRPr>
            </a:pPr>
            <a:r>
              <a:t>"지금 사면 얼마 잃고,</a:t>
            </a:r>
          </a:p>
          <a:p>
            <a:pPr algn="ctr">
              <a:spcAft>
                <a:spcPts val="400"/>
              </a:spcAft>
              <a:defRPr sz="4000" b="1">
                <a:solidFill>
                  <a:srgbClr val="00D49D"/>
                </a:solidFill>
                <a:latin typeface="Arial"/>
              </a:defRPr>
            </a:pPr>
            <a:r>
              <a:t>참으면 얼마 번다."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FFFFFF"/>
                </a:solidFill>
                <a:latin typeface="Arial"/>
              </a:defRPr>
            </a:pPr>
          </a:p>
          <a:p>
            <a:pPr algn="ctr">
              <a:spcAft>
                <a:spcPts val="400"/>
              </a:spcAft>
              <a:defRPr sz="3200" b="1">
                <a:solidFill>
                  <a:srgbClr val="FFFFFF"/>
                </a:solidFill>
                <a:latin typeface="Arial"/>
              </a:defRPr>
            </a:pPr>
            <a:r>
              <a:t>이 근거를 줘야 한다.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E8CFF"/>
                </a:solidFill>
                <a:latin typeface="Arial"/>
              </a:defRPr>
            </a:pPr>
            <a:r>
              <a:t>CORE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3200" b="1">
                <a:solidFill>
                  <a:srgbClr val="FFFFFF"/>
                </a:solidFill>
                <a:latin typeface="Arial"/>
              </a:defRPr>
            </a:pPr>
            <a:r>
              <a:t>FOMO가 터지는 바로 그 순간,</a:t>
            </a:r>
          </a:p>
          <a:p>
            <a:pPr algn="l">
              <a:spcAft>
                <a:spcPts val="400"/>
              </a:spcAft>
              <a:defRPr sz="3200" b="1">
                <a:solidFill>
                  <a:srgbClr val="4E8CFF"/>
                </a:solidFill>
                <a:latin typeface="Arial"/>
              </a:defRPr>
            </a:pPr>
            <a:r>
              <a:t>과거의 데이터가 개입한다.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3291840"/>
            <a:ext cx="2468880" cy="2377440"/>
          </a:xfrm>
          <a:prstGeom prst="roundRect">
            <a:avLst/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3291840"/>
            <a:ext cx="2468880" cy="38100"/>
          </a:xfrm>
          <a:prstGeom prst="rect">
            <a:avLst/>
          </a:prstGeom>
          <a:solidFill>
            <a:srgbClr val="4E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3566160"/>
            <a:ext cx="2011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4E8CFF"/>
                </a:solidFill>
                <a:latin typeface="Arial"/>
              </a:defRPr>
            </a:pPr>
            <a:r>
              <a:t>01</a:t>
            </a:r>
          </a:p>
          <a:p>
            <a:pPr algn="l">
              <a:spcAft>
                <a:spcPts val="400"/>
              </a:spcAft>
              <a:defRPr sz="2400" b="1">
                <a:solidFill>
                  <a:srgbClr val="FFFFFF"/>
                </a:solidFill>
                <a:latin typeface="Arial"/>
              </a:defRPr>
            </a:pPr>
            <a:r>
              <a:t>캡처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FFFFFF"/>
                </a:solidFill>
                <a:latin typeface="Arial"/>
              </a:defRPr>
            </a:pPr>
          </a:p>
          <a:p>
            <a:pPr algn="l">
              <a:spcAft>
                <a:spcPts val="400"/>
              </a:spcAft>
              <a:defRPr sz="1400" b="0">
                <a:solidFill>
                  <a:srgbClr val="AAAABB"/>
                </a:solidFill>
                <a:latin typeface="Arial"/>
              </a:defRPr>
            </a:pPr>
            <a:r>
              <a:t>사고 싶은 그 순간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AAAABB"/>
                </a:solidFill>
                <a:latin typeface="Arial"/>
              </a:defRPr>
            </a:pPr>
            <a:r>
              <a:t>종목 + 차트 패턴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20440" y="3291840"/>
            <a:ext cx="2468880" cy="2377440"/>
          </a:xfrm>
          <a:prstGeom prst="roundRect">
            <a:avLst/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520440" y="3291840"/>
            <a:ext cx="2468880" cy="38100"/>
          </a:xfrm>
          <a:prstGeom prst="rect">
            <a:avLst/>
          </a:prstGeom>
          <a:solidFill>
            <a:srgbClr val="00D4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40" y="3566160"/>
            <a:ext cx="2011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00D49D"/>
                </a:solidFill>
                <a:latin typeface="Arial"/>
              </a:defRPr>
            </a:pPr>
            <a:r>
              <a:t>02</a:t>
            </a:r>
          </a:p>
          <a:p>
            <a:pPr algn="l">
              <a:spcAft>
                <a:spcPts val="400"/>
              </a:spcAft>
              <a:defRPr sz="2400" b="1">
                <a:solidFill>
                  <a:srgbClr val="FFFFFF"/>
                </a:solidFill>
                <a:latin typeface="Arial"/>
              </a:defRPr>
            </a:pPr>
            <a:r>
              <a:t>매칭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FFFFFF"/>
                </a:solidFill>
                <a:latin typeface="Arial"/>
              </a:defRPr>
            </a:pPr>
          </a:p>
          <a:p>
            <a:pPr algn="l">
              <a:spcAft>
                <a:spcPts val="400"/>
              </a:spcAft>
              <a:defRPr sz="1400" b="0">
                <a:solidFill>
                  <a:srgbClr val="AAAABB"/>
                </a:solidFill>
                <a:latin typeface="Arial"/>
              </a:defRPr>
            </a:pPr>
            <a:r>
              <a:t>과거 유사 패턴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AAAABB"/>
                </a:solidFill>
                <a:latin typeface="Arial"/>
              </a:defRPr>
            </a:pPr>
            <a:r>
              <a:t>AI가 탐색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3291840"/>
            <a:ext cx="2468880" cy="2377440"/>
          </a:xfrm>
          <a:prstGeom prst="roundRect">
            <a:avLst/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3291840"/>
            <a:ext cx="2468880" cy="381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3566160"/>
            <a:ext cx="2011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FFC107"/>
                </a:solidFill>
                <a:latin typeface="Arial"/>
              </a:defRPr>
            </a:pPr>
            <a:r>
              <a:t>03</a:t>
            </a:r>
          </a:p>
          <a:p>
            <a:pPr algn="l">
              <a:spcAft>
                <a:spcPts val="400"/>
              </a:spcAft>
              <a:defRPr sz="2400" b="1">
                <a:solidFill>
                  <a:srgbClr val="FFFFFF"/>
                </a:solidFill>
                <a:latin typeface="Arial"/>
              </a:defRPr>
            </a:pPr>
            <a:r>
              <a:t>결과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FFFFFF"/>
                </a:solidFill>
                <a:latin typeface="Arial"/>
              </a:defRPr>
            </a:pPr>
          </a:p>
          <a:p>
            <a:pPr algn="l">
              <a:spcAft>
                <a:spcPts val="400"/>
              </a:spcAft>
              <a:defRPr sz="1400" b="0">
                <a:solidFill>
                  <a:srgbClr val="AAAABB"/>
                </a:solidFill>
                <a:latin typeface="Arial"/>
              </a:defRPr>
            </a:pPr>
            <a:r>
              <a:t>"이 패턴에서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AAAABB"/>
                </a:solidFill>
                <a:latin typeface="Arial"/>
              </a:defRPr>
            </a:pPr>
            <a:r>
              <a:t>산 사람은 -25%"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81160" y="3291840"/>
            <a:ext cx="2468880" cy="2377440"/>
          </a:xfrm>
          <a:prstGeom prst="roundRect">
            <a:avLst/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281160" y="3291840"/>
            <a:ext cx="2468880" cy="38100"/>
          </a:xfrm>
          <a:prstGeom prst="rect">
            <a:avLst/>
          </a:prstGeom>
          <a:solidFill>
            <a:srgbClr val="A8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09760" y="3566160"/>
            <a:ext cx="2011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A87CFF"/>
                </a:solidFill>
                <a:latin typeface="Arial"/>
              </a:defRPr>
            </a:pPr>
            <a:r>
              <a:t>04</a:t>
            </a:r>
          </a:p>
          <a:p>
            <a:pPr algn="l">
              <a:spcAft>
                <a:spcPts val="400"/>
              </a:spcAft>
              <a:defRPr sz="2400" b="1">
                <a:solidFill>
                  <a:srgbClr val="FFFFFF"/>
                </a:solidFill>
                <a:latin typeface="Arial"/>
              </a:defRPr>
            </a:pPr>
            <a:r>
              <a:t>선택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FFFFFF"/>
                </a:solidFill>
                <a:latin typeface="Arial"/>
              </a:defRPr>
            </a:pPr>
          </a:p>
          <a:p>
            <a:pPr algn="l">
              <a:spcAft>
                <a:spcPts val="400"/>
              </a:spcAft>
              <a:defRPr sz="1400" b="0">
                <a:solidFill>
                  <a:srgbClr val="AAAABB"/>
                </a:solidFill>
                <a:latin typeface="Arial"/>
              </a:defRPr>
            </a:pPr>
            <a:r>
              <a:t>데이터를 보고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AAAABB"/>
                </a:solidFill>
                <a:latin typeface="Arial"/>
              </a:defRPr>
            </a:pPr>
            <a:r>
              <a:t>스스로 판단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943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07080"/>
                </a:solidFill>
                <a:latin typeface="Arial"/>
              </a:defRPr>
            </a:pPr>
            <a:r>
              <a:t>"비트코인 사고 싶어" &gt;&gt;&gt; "이 패턴은 2024년 3월과 89% 유사. 당시 FOMO 매수자 73%가 2주 내 -23%"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07080"/>
                </a:solidFill>
                <a:latin typeface="Arial"/>
              </a:defRPr>
            </a:pPr>
            <a:r>
              <a:t>"그거 리딩방이랑 뭐가 달라?"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3200" b="1">
                <a:solidFill>
                  <a:srgbClr val="FF4E6A"/>
                </a:solidFill>
                <a:latin typeface="Arial"/>
              </a:defRPr>
            </a:pPr>
            <a:r>
              <a:t>리딩방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FFFFFF"/>
                </a:solidFill>
                <a:latin typeface="Arial"/>
              </a:defRPr>
            </a:pPr>
          </a:p>
          <a:p>
            <a:pPr algn="l">
              <a:spcAft>
                <a:spcPts val="400"/>
              </a:spcAft>
              <a:defRPr sz="2800" b="1">
                <a:solidFill>
                  <a:srgbClr val="AAAABB"/>
                </a:solidFill>
                <a:latin typeface="Arial"/>
              </a:defRPr>
            </a:pPr>
            <a:r>
              <a:t>"사라"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707080"/>
                </a:solidFill>
                <a:latin typeface="Arial"/>
              </a:defRPr>
            </a:pPr>
            <a:r>
              <a:t>미래 예측 (틀리면 사기)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707080"/>
                </a:solidFill>
                <a:latin typeface="Arial"/>
              </a:defRPr>
            </a:pPr>
            <a:r>
              <a:t>네가 사야 방장이 돈 벌어</a:t>
            </a:r>
          </a:p>
          <a:p>
            <a:pPr algn="l">
              <a:spcAft>
                <a:spcPts val="400"/>
              </a:spcAft>
              <a:defRPr sz="2200" b="1">
                <a:solidFill>
                  <a:srgbClr val="FF4E6A"/>
                </a:solidFill>
                <a:latin typeface="Arial"/>
              </a:defRPr>
            </a:pPr>
            <a:r>
              <a:t>이해충돌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3200" b="1">
                <a:solidFill>
                  <a:srgbClr val="00D49D"/>
                </a:solidFill>
                <a:latin typeface="Arial"/>
              </a:defRPr>
            </a:pPr>
            <a:r>
              <a:t>Parallel Investor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FFFFFF"/>
                </a:solidFill>
                <a:latin typeface="Arial"/>
              </a:defRPr>
            </a:pPr>
          </a:p>
          <a:p>
            <a:pPr algn="l">
              <a:spcAft>
                <a:spcPts val="400"/>
              </a:spcAft>
              <a:defRPr sz="2800" b="1">
                <a:solidFill>
                  <a:srgbClr val="FFFFFF"/>
                </a:solidFill>
                <a:latin typeface="Arial"/>
              </a:defRPr>
            </a:pPr>
            <a:r>
              <a:t>"사지 마라" (데이터로)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AAAABB"/>
                </a:solidFill>
                <a:latin typeface="Arial"/>
              </a:defRPr>
            </a:pPr>
            <a:r>
              <a:t>과거 대조 = 팩트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AAAABB"/>
                </a:solidFill>
                <a:latin typeface="Arial"/>
              </a:defRPr>
            </a:pPr>
            <a:r>
              <a:t>네가 안 사야 가치 증명</a:t>
            </a:r>
          </a:p>
          <a:p>
            <a:pPr algn="l">
              <a:spcAft>
                <a:spcPts val="400"/>
              </a:spcAft>
              <a:defRPr sz="2200" b="1">
                <a:solidFill>
                  <a:srgbClr val="00D49D"/>
                </a:solidFill>
                <a:latin typeface="Arial"/>
              </a:defRPr>
            </a:pPr>
            <a:r>
              <a:t>이해 일치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60720" y="1371600"/>
            <a:ext cx="25400" cy="3657600"/>
          </a:xfrm>
          <a:prstGeom prst="roundRect">
            <a:avLst/>
          </a:prstGeom>
          <a:solidFill>
            <a:srgbClr val="707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54864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400" b="1">
                <a:solidFill>
                  <a:srgbClr val="FFC107"/>
                </a:solidFill>
                <a:latin typeface="Arial"/>
              </a:defRPr>
            </a:pPr>
            <a:r>
              <a:t>리딩방은 미래를 약속한다. 우리는 과거를 보여준다.</a:t>
            </a:r>
          </a:p>
          <a:p>
            <a:pPr algn="ctr">
              <a:spcAft>
                <a:spcPts val="400"/>
              </a:spcAft>
              <a:defRPr sz="1800" b="0">
                <a:solidFill>
                  <a:srgbClr val="AAAABB"/>
                </a:solidFill>
                <a:latin typeface="Arial"/>
              </a:defRPr>
            </a:pPr>
            <a:r>
              <a:t>미래는 불확실하지만, 역사는 반복된다.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E8CFF"/>
                </a:solidFill>
                <a:latin typeface="Arial"/>
              </a:defRPr>
            </a:pPr>
            <a:r>
              <a:t>CONCEPT  (호소다 다카히로 &lt;컨셉수업&gt;)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645920"/>
            <a:ext cx="3291840" cy="2011680"/>
          </a:xfrm>
          <a:prstGeom prst="roundRect">
            <a:avLst/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645920"/>
            <a:ext cx="3291840" cy="38100"/>
          </a:xfrm>
          <a:prstGeom prst="rect">
            <a:avLst/>
          </a:prstGeom>
          <a:solidFill>
            <a:srgbClr val="4E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2743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200" b="1">
                <a:solidFill>
                  <a:srgbClr val="4E8CFF"/>
                </a:solidFill>
                <a:latin typeface="Arial"/>
              </a:defRPr>
            </a:pPr>
            <a:r>
              <a:t>Consumer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FFFFFF"/>
                </a:solidFill>
                <a:latin typeface="Arial"/>
              </a:defRPr>
            </a:pPr>
          </a:p>
          <a:p>
            <a:pPr algn="l">
              <a:spcAft>
                <a:spcPts val="400"/>
              </a:spcAft>
              <a:defRPr sz="1800" b="0">
                <a:solidFill>
                  <a:srgbClr val="AAAABB"/>
                </a:solidFill>
                <a:latin typeface="Arial"/>
              </a:defRPr>
            </a:pPr>
            <a:r>
              <a:t>"안 사도 괜찮다는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AAAABB"/>
                </a:solidFill>
                <a:latin typeface="Arial"/>
              </a:defRPr>
            </a:pPr>
            <a:r>
              <a:t>확인을 받고 싶다"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19" y="1645920"/>
            <a:ext cx="3291840" cy="2011680"/>
          </a:xfrm>
          <a:prstGeom prst="roundRect">
            <a:avLst/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89119" y="1645920"/>
            <a:ext cx="3291840" cy="38100"/>
          </a:xfrm>
          <a:prstGeom prst="rect">
            <a:avLst/>
          </a:prstGeom>
          <a:solidFill>
            <a:srgbClr val="00D4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39" y="1920240"/>
            <a:ext cx="2743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200" b="1">
                <a:solidFill>
                  <a:srgbClr val="00D49D"/>
                </a:solidFill>
                <a:latin typeface="Arial"/>
              </a:defRPr>
            </a:pPr>
            <a:r>
              <a:t>Competition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FFFFFF"/>
                </a:solidFill>
                <a:latin typeface="Arial"/>
              </a:defRPr>
            </a:pPr>
          </a:p>
          <a:p>
            <a:pPr algn="l">
              <a:spcAft>
                <a:spcPts val="400"/>
              </a:spcAft>
              <a:defRPr sz="1800" b="0">
                <a:solidFill>
                  <a:srgbClr val="AAAABB"/>
                </a:solidFill>
                <a:latin typeface="Arial"/>
              </a:defRPr>
            </a:pPr>
            <a:r>
              <a:t>"안 사는 것"을 보상하는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AAAABB"/>
                </a:solidFill>
                <a:latin typeface="Arial"/>
              </a:defRPr>
            </a:pPr>
            <a:r>
              <a:t>서비스 = 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59" y="1645920"/>
            <a:ext cx="3291840" cy="2011680"/>
          </a:xfrm>
          <a:prstGeom prst="roundRect">
            <a:avLst/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38159" y="1645920"/>
            <a:ext cx="3291840" cy="38100"/>
          </a:xfrm>
          <a:prstGeom prst="rect">
            <a:avLst/>
          </a:prstGeom>
          <a:solidFill>
            <a:srgbClr val="A8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9" y="1920240"/>
            <a:ext cx="2743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200" b="1">
                <a:solidFill>
                  <a:srgbClr val="A87CFF"/>
                </a:solidFill>
                <a:latin typeface="Arial"/>
              </a:defRPr>
            </a:pPr>
            <a:r>
              <a:t>Company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FFFFFF"/>
                </a:solidFill>
                <a:latin typeface="Arial"/>
              </a:defRPr>
            </a:pPr>
          </a:p>
          <a:p>
            <a:pPr algn="l">
              <a:spcAft>
                <a:spcPts val="400"/>
              </a:spcAft>
              <a:defRPr sz="1800" b="0">
                <a:solidFill>
                  <a:srgbClr val="AAAABB"/>
                </a:solidFill>
                <a:latin typeface="Arial"/>
              </a:defRPr>
            </a:pPr>
            <a:r>
              <a:t>투자를 안 하게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AAAABB"/>
                </a:solidFill>
                <a:latin typeface="Arial"/>
              </a:defRPr>
            </a:pPr>
            <a:r>
              <a:t>도와준다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114800"/>
            <a:ext cx="10881360" cy="2011680"/>
          </a:xfrm>
          <a:prstGeom prst="roundRect">
            <a:avLst/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38912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FFC107"/>
                </a:solidFill>
                <a:latin typeface="Arial"/>
              </a:defRPr>
            </a:pPr>
            <a:r>
              <a:t>Concept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FFFFFF"/>
                </a:solidFill>
                <a:latin typeface="Arial"/>
              </a:defRPr>
            </a:pPr>
          </a:p>
          <a:p>
            <a:pPr algn="ctr">
              <a:spcAft>
                <a:spcPts val="400"/>
              </a:spcAft>
              <a:defRPr sz="3000" b="1">
                <a:solidFill>
                  <a:srgbClr val="FFFFFF"/>
                </a:solidFill>
                <a:latin typeface="Arial"/>
              </a:defRPr>
            </a:pPr>
            <a:r>
              <a:t>매수 욕구와 유사했던 과거의 결과를 보여주는</a:t>
            </a:r>
          </a:p>
          <a:p>
            <a:pPr algn="ctr">
              <a:spcAft>
                <a:spcPts val="400"/>
              </a:spcAft>
              <a:defRPr sz="3000" b="1">
                <a:solidFill>
                  <a:srgbClr val="4E8CFF"/>
                </a:solidFill>
                <a:latin typeface="Arial"/>
              </a:defRPr>
            </a:pPr>
            <a:r>
              <a:t>인지적 거울 (Data Mirroring)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E8CFF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rial"/>
              </a:defRPr>
            </a:pPr>
            <a:r>
              <a:t>어떻게 돈을 버는가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560320"/>
            <a:ext cx="3291840" cy="2377440"/>
          </a:xfrm>
          <a:prstGeom prst="roundRect">
            <a:avLst/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560320"/>
            <a:ext cx="3291840" cy="38100"/>
          </a:xfrm>
          <a:prstGeom prst="rect">
            <a:avLst/>
          </a:prstGeom>
          <a:solidFill>
            <a:srgbClr val="4E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834640"/>
            <a:ext cx="2743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400" b="1">
                <a:solidFill>
                  <a:srgbClr val="4E8CFF"/>
                </a:solidFill>
                <a:latin typeface="Arial"/>
              </a:defRPr>
            </a:pPr>
            <a:r>
              <a:t>Freemium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FFFFFF"/>
                </a:solidFill>
                <a:latin typeface="Arial"/>
              </a:defRPr>
            </a:pPr>
          </a:p>
          <a:p>
            <a:pPr algn="l">
              <a:spcAft>
                <a:spcPts val="400"/>
              </a:spcAft>
              <a:defRPr sz="1600" b="0">
                <a:solidFill>
                  <a:srgbClr val="AAAABB"/>
                </a:solidFill>
                <a:latin typeface="Arial"/>
              </a:defRPr>
            </a:pPr>
            <a:r>
              <a:t>무료: 기록 + 결과 알림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AAAABB"/>
                </a:solidFill>
                <a:latin typeface="Arial"/>
              </a:defRPr>
            </a:pPr>
            <a:r>
              <a:t>유료: 실시간 패턴 매칭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AAAABB"/>
                </a:solidFill>
                <a:latin typeface="Arial"/>
              </a:defRPr>
            </a:pPr>
            <a:r>
              <a:t>+ 시뮬레이션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19" y="2560320"/>
            <a:ext cx="3291840" cy="2377440"/>
          </a:xfrm>
          <a:prstGeom prst="roundRect">
            <a:avLst/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89119" y="2560320"/>
            <a:ext cx="3291840" cy="38100"/>
          </a:xfrm>
          <a:prstGeom prst="rect">
            <a:avLst/>
          </a:prstGeom>
          <a:solidFill>
            <a:srgbClr val="00D4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39" y="2834640"/>
            <a:ext cx="2743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400" b="1">
                <a:solidFill>
                  <a:srgbClr val="00D49D"/>
                </a:solidFill>
                <a:latin typeface="Arial"/>
              </a:defRPr>
            </a:pPr>
            <a:r>
              <a:t>B2B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FFFFFF"/>
                </a:solidFill>
                <a:latin typeface="Arial"/>
              </a:defRPr>
            </a:pPr>
          </a:p>
          <a:p>
            <a:pPr algn="l">
              <a:spcAft>
                <a:spcPts val="400"/>
              </a:spcAft>
              <a:defRPr sz="1600" b="0">
                <a:solidFill>
                  <a:srgbClr val="AAAABB"/>
                </a:solidFill>
                <a:latin typeface="Arial"/>
              </a:defRPr>
            </a:pPr>
            <a:r>
              <a:t>증권사 제휴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AAAABB"/>
                </a:solidFill>
                <a:latin typeface="Arial"/>
              </a:defRPr>
            </a:pPr>
            <a:r>
              <a:t>고객이 오래 살아남아야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AAAABB"/>
                </a:solidFill>
                <a:latin typeface="Arial"/>
              </a:defRPr>
            </a:pPr>
            <a:r>
              <a:t>수수료를 계속 번다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59" y="2560320"/>
            <a:ext cx="3291840" cy="2377440"/>
          </a:xfrm>
          <a:prstGeom prst="roundRect">
            <a:avLst/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138159" y="2560320"/>
            <a:ext cx="3291840" cy="38100"/>
          </a:xfrm>
          <a:prstGeom prst="rect">
            <a:avLst/>
          </a:prstGeom>
          <a:solidFill>
            <a:srgbClr val="A8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9" y="2834640"/>
            <a:ext cx="2743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400" b="1">
                <a:solidFill>
                  <a:srgbClr val="A87CFF"/>
                </a:solidFill>
                <a:latin typeface="Arial"/>
              </a:defRPr>
            </a:pPr>
            <a:r>
              <a:t>Data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FFFFFF"/>
                </a:solidFill>
                <a:latin typeface="Arial"/>
              </a:defRPr>
            </a:pPr>
          </a:p>
          <a:p>
            <a:pPr algn="l">
              <a:spcAft>
                <a:spcPts val="400"/>
              </a:spcAft>
              <a:defRPr sz="1600" b="0">
                <a:solidFill>
                  <a:srgbClr val="AAAABB"/>
                </a:solidFill>
                <a:latin typeface="Arial"/>
              </a:defRPr>
            </a:pPr>
            <a:r>
              <a:t>익명 FOMO 패턴 데이터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AAAABB"/>
                </a:solidFill>
                <a:latin typeface="Arial"/>
              </a:defRPr>
            </a:pPr>
            <a:r>
              <a:t>기관 대상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AAAABB"/>
                </a:solidFill>
                <a:latin typeface="Arial"/>
              </a:defRPr>
            </a:pPr>
            <a:r>
              <a:t>Alternative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303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C107"/>
                </a:solidFill>
                <a:latin typeface="Arial"/>
              </a:defRPr>
            </a:pPr>
            <a:r>
              <a:t>"충동 매수 안 해서 500만원 안 잃었는데, 구독료 5만원이 아깝겠어?"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E8CFF"/>
                </a:solidFill>
                <a:latin typeface="Arial"/>
              </a:defRPr>
            </a:pPr>
            <a:r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rial"/>
              </a:defRPr>
            </a:pPr>
            <a:r>
              <a:t>지금 어디까지 왔는가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560320"/>
            <a:ext cx="3291840" cy="3200400"/>
          </a:xfrm>
          <a:prstGeom prst="roundRect">
            <a:avLst/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560320"/>
            <a:ext cx="3291840" cy="38100"/>
          </a:xfrm>
          <a:prstGeom prst="rect">
            <a:avLst/>
          </a:prstGeom>
          <a:solidFill>
            <a:srgbClr val="00D4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834640"/>
            <a:ext cx="2743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00D49D"/>
                </a:solidFill>
                <a:latin typeface="Arial"/>
              </a:defRPr>
            </a:pPr>
            <a:r>
              <a:t>DONE</a:t>
            </a:r>
          </a:p>
          <a:p>
            <a:pPr algn="l">
              <a:spcAft>
                <a:spcPts val="400"/>
              </a:spcAft>
              <a:defRPr sz="2400" b="1">
                <a:solidFill>
                  <a:srgbClr val="FFFFFF"/>
                </a:solidFill>
                <a:latin typeface="Arial"/>
              </a:defRPr>
            </a:pPr>
            <a:r>
              <a:t>기획 &amp; 컨셉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FFFFFF"/>
                </a:solidFill>
                <a:latin typeface="Arial"/>
              </a:defRPr>
            </a:pPr>
          </a:p>
          <a:p>
            <a:pPr algn="l">
              <a:spcAft>
                <a:spcPts val="400"/>
              </a:spcAft>
              <a:defRPr sz="1500" b="0">
                <a:solidFill>
                  <a:srgbClr val="AAAABB"/>
                </a:solidFill>
                <a:latin typeface="Arial"/>
              </a:defRPr>
            </a:pPr>
            <a:r>
              <a:t>컨셉수업 프레임워크 적용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AAAABB"/>
                </a:solidFill>
                <a:latin typeface="Arial"/>
              </a:defRPr>
            </a:pPr>
            <a:r>
              <a:t>수익 모델 검증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AAAABB"/>
                </a:solidFill>
                <a:latin typeface="Arial"/>
              </a:defRPr>
            </a:pPr>
            <a:r>
              <a:t>PRD v0.1 완성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19" y="2560320"/>
            <a:ext cx="3291840" cy="3200400"/>
          </a:xfrm>
          <a:prstGeom prst="roundRect">
            <a:avLst/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89119" y="2560320"/>
            <a:ext cx="3291840" cy="381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39" y="2834640"/>
            <a:ext cx="2743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FFC107"/>
                </a:solidFill>
                <a:latin typeface="Arial"/>
              </a:defRPr>
            </a:pPr>
            <a:r>
              <a:t>NOW</a:t>
            </a:r>
          </a:p>
          <a:p>
            <a:pPr algn="l">
              <a:spcAft>
                <a:spcPts val="400"/>
              </a:spcAft>
              <a:defRPr sz="2400" b="1">
                <a:solidFill>
                  <a:srgbClr val="FFFFFF"/>
                </a:solidFill>
                <a:latin typeface="Arial"/>
              </a:defRPr>
            </a:pPr>
            <a:r>
              <a:t>스켈레톤 코드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FFFFFF"/>
                </a:solidFill>
                <a:latin typeface="Arial"/>
              </a:defRPr>
            </a:pPr>
          </a:p>
          <a:p>
            <a:pPr algn="l">
              <a:spcAft>
                <a:spcPts val="400"/>
              </a:spcAft>
              <a:defRPr sz="1500" b="0">
                <a:solidFill>
                  <a:srgbClr val="AAAABB"/>
                </a:solidFill>
                <a:latin typeface="Arial"/>
              </a:defRPr>
            </a:pPr>
            <a:r>
              <a:t>Hexagonal Architecture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AAAABB"/>
                </a:solidFill>
                <a:latin typeface="Arial"/>
              </a:defRPr>
            </a:pPr>
            <a:r>
              <a:t>Java 21 + Spring Boot 3.4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AAAABB"/>
                </a:solidFill>
                <a:latin typeface="Arial"/>
              </a:defRPr>
            </a:pPr>
            <a:r>
              <a:t>React 18 + TypeScript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59" y="2560320"/>
            <a:ext cx="3291840" cy="3200400"/>
          </a:xfrm>
          <a:prstGeom prst="roundRect">
            <a:avLst/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138159" y="2560320"/>
            <a:ext cx="3291840" cy="38100"/>
          </a:xfrm>
          <a:prstGeom prst="rect">
            <a:avLst/>
          </a:prstGeom>
          <a:solidFill>
            <a:srgbClr val="707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9" y="2834640"/>
            <a:ext cx="2743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707080"/>
                </a:solidFill>
                <a:latin typeface="Arial"/>
              </a:defRPr>
            </a:pPr>
            <a:r>
              <a:t>NEXT</a:t>
            </a:r>
          </a:p>
          <a:p>
            <a:pPr algn="l">
              <a:spcAft>
                <a:spcPts val="400"/>
              </a:spcAft>
              <a:defRPr sz="2400" b="1">
                <a:solidFill>
                  <a:srgbClr val="FFFFFF"/>
                </a:solidFill>
                <a:latin typeface="Arial"/>
              </a:defRPr>
            </a:pPr>
            <a:r>
              <a:t>MVP 구현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FFFFFF"/>
                </a:solidFill>
                <a:latin typeface="Arial"/>
              </a:defRPr>
            </a:pPr>
          </a:p>
          <a:p>
            <a:pPr algn="l">
              <a:spcAft>
                <a:spcPts val="400"/>
              </a:spcAft>
              <a:defRPr sz="1500" b="0">
                <a:solidFill>
                  <a:srgbClr val="AAAABB"/>
                </a:solidFill>
                <a:latin typeface="Arial"/>
              </a:defRPr>
            </a:pPr>
            <a:r>
              <a:t>Shadow Portfolio CRUD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AAAABB"/>
                </a:solidFill>
                <a:latin typeface="Arial"/>
              </a:defRPr>
            </a:pPr>
            <a:r>
              <a:t>JOMO Calculator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AAAABB"/>
                </a:solidFill>
                <a:latin typeface="Arial"/>
              </a:defRPr>
            </a:pPr>
            <a:r>
              <a:t>Patience Leveling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AAAABB"/>
                </a:solidFill>
                <a:latin typeface="Arial"/>
              </a:defRPr>
            </a:pPr>
            <a:r>
              <a:t>Mock 주가 시스템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0" y="3657600"/>
            <a:ext cx="2103120" cy="38100"/>
          </a:xfrm>
          <a:prstGeom prst="rect">
            <a:avLst/>
          </a:prstGeom>
          <a:solidFill>
            <a:srgbClr val="4E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4800" b="1">
                <a:solidFill>
                  <a:srgbClr val="FFFFFF"/>
                </a:solidFill>
                <a:latin typeface="Arial"/>
              </a:defRPr>
            </a:pPr>
            <a:r>
              <a:t>FOMO가 터질 때,</a:t>
            </a:r>
          </a:p>
          <a:p>
            <a:pPr algn="ctr">
              <a:spcAft>
                <a:spcPts val="400"/>
              </a:spcAft>
              <a:defRPr sz="4800" b="1">
                <a:solidFill>
                  <a:srgbClr val="4E8CFF"/>
                </a:solidFill>
                <a:latin typeface="Arial"/>
              </a:defRPr>
            </a:pPr>
            <a:r>
              <a:t>과거가 답을 알려준다.</a:t>
            </a:r>
          </a:p>
          <a:p>
            <a:pPr algn="l">
              <a:spcAft>
                <a:spcPts val="400"/>
              </a:spcAft>
              <a:defRPr sz="2000" b="0">
                <a:solidFill>
                  <a:srgbClr val="FFFFFF"/>
                </a:solidFill>
                <a:latin typeface="Arial"/>
              </a:defRPr>
            </a:pPr>
          </a:p>
          <a:p>
            <a:pPr algn="ctr">
              <a:spcAft>
                <a:spcPts val="400"/>
              </a:spcAft>
              <a:defRPr sz="2400" b="0">
                <a:solidFill>
                  <a:srgbClr val="707080"/>
                </a:solidFill>
                <a:latin typeface="Arial"/>
              </a:defRPr>
            </a:pPr>
            <a:r>
              <a:t>Parallel Investor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